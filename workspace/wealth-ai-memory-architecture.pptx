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2563EB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0116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Memory Management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&amp; Distributed Memory in Multi-Agent AI Systems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2926080" y="2761488"/>
            <a:ext cx="3291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907792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29077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79776" y="2907792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79776" y="29077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Memory Management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26864" y="2907792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9077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73952" y="2907792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B45309">
              <a:alpha val="18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3952" y="29077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Management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AI pipeline using LangGraph — mapping to Microsoft Azure enterprise architecture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·  Internal Demo  ·  Exaze AI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Architecture</a:t>
            </a:r>
            <a:endParaRPr lang="en-US" sz="1700" dirty="0"/>
          </a:p>
        </p:txBody>
      </p:sp>
      <p:pic>
        <p:nvPicPr>
          <p:cNvPr id="6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74980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 SHARED  MEMORY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11480" y="941832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601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Shared State   ·   SQLite Client Database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86968" y="1362456"/>
            <a:ext cx="1426464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1362456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372868" y="1362456"/>
            <a:ext cx="1426464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72868" y="1362456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Holdings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858768" y="1362456"/>
            <a:ext cx="1426464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1362456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Regime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344668" y="1362456"/>
            <a:ext cx="1426464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44668" y="1362456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830568" y="1362456"/>
            <a:ext cx="1426464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30568" y="1362456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Income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668780" y="1746504"/>
            <a:ext cx="45720" cy="384048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" y="2130552"/>
            <a:ext cx="239572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2185416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Retrieval Agent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2514600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&amp; structures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portfolio data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49140" y="1746504"/>
            <a:ext cx="45720" cy="38404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74136" y="2130552"/>
            <a:ext cx="239572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47288" y="2185416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Analysis Agent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447288" y="2514600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IT Act 2025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flags opportunities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429500" y="1746504"/>
            <a:ext cx="45720" cy="384048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54496" y="2130552"/>
            <a:ext cx="239572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3175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27648" y="2185416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Agent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327648" y="2514600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strategy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recommendations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11480" y="295351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 (AGENT-PRIVATE)  MEMORY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668780" y="2880360"/>
            <a:ext cx="45720" cy="265176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" y="3145536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8056" y="321868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 Memory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12648" y="3493008"/>
            <a:ext cx="2157984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" y="356616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definitions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 templates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type mappings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transformations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4549140" y="2880360"/>
            <a:ext cx="45720" cy="265176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328416" y="3145536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28416" y="321868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Domain Memory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3493008" y="3493008"/>
            <a:ext cx="2157984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65576" y="356616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Act 2025 rules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80C / 80CCD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LTCG &amp; STCG limits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gains tables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7429500" y="2880360"/>
            <a:ext cx="45720" cy="265176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08776" y="3145536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08776" y="321868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Domain Memory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373368" y="3493008"/>
            <a:ext cx="2157984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45936" y="356616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benchmarks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/ SEBI guidelines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 data
</a:t>
            </a:r>
            <a:pPr indent="0" marL="0">
              <a:spcAft>
                <a:spcPts val="150"/>
              </a:spcAft>
              <a:buNone/>
            </a:pPr>
            <a:r>
              <a:rPr lang="en-US" sz="82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</a:t>
            </a:r>
            <a:pPr indent="0" marL="0">
              <a:spcAft>
                <a:spcPts val="150"/>
              </a:spcAft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Rebalancing models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state ensures data consistency  ·  Distributed memory enables domain depth  ·  Sequential pipeline: Data → Tax → Advisory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Memory: RAG &amp; Indexing Architecture</a:t>
            </a:r>
            <a:endParaRPr lang="en-US" sz="1700" dirty="0"/>
          </a:p>
        </p:txBody>
      </p:sp>
      <p:pic>
        <p:nvPicPr>
          <p:cNvPr id="6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7315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agent retrieves its private domain knowledge at query time — prototype path and Azure enterprise path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64592" y="10241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AGENT — DOMAIN KNOWLEDGE (IT ACT 2025)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64592" y="1234440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592" y="129844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Documents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1536192"/>
            <a:ext cx="144475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1581912"/>
            <a:ext cx="1481328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Act 2025 PDF
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CBDT Circulars
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80C / 80CCD
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LTCG Rules
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Orders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828800" y="1901952"/>
            <a:ext cx="201168" cy="3657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20824" y="1865376"/>
            <a:ext cx="64008" cy="10972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29968" y="12344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29968" y="13258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066544" y="16459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docs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segments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3054096" y="1901952"/>
            <a:ext cx="82296" cy="36576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36392" y="12344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36392" y="13258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2968" y="16459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vector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4160520" y="1901952"/>
            <a:ext cx="82296" cy="36576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42816" y="12344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42816" y="13258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279392" y="16459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Search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5266944" y="1901952"/>
            <a:ext cx="82296" cy="36576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49240" y="12344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49240" y="13258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85816" y="16459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query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runtime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6373368" y="1901952"/>
            <a:ext cx="201168" cy="3657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65392" y="1865376"/>
            <a:ext cx="64008" cy="10972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74536" y="12344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20256" y="1234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64592" y="2670048"/>
            <a:ext cx="881481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64592" y="2752344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AGENT — DOMAIN KNOWLEDGE (MARKET &amp; REGULATORY)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164592" y="2944368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4592" y="3008376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Documents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74320" y="3246120"/>
            <a:ext cx="144475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6032" y="3291840"/>
            <a:ext cx="1481328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Bulletins
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Filings
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Factsheets
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 Data
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Reports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1828800" y="3611880"/>
            <a:ext cx="201168" cy="36576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020824" y="3575304"/>
            <a:ext cx="64008" cy="10972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029968" y="2944368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029968" y="3035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066544" y="3355848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docs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segments</a:t>
            </a:r>
            <a:endParaRPr lang="en-US" sz="720" dirty="0"/>
          </a:p>
        </p:txBody>
      </p:sp>
      <p:sp>
        <p:nvSpPr>
          <p:cNvPr id="45" name="Shape 42"/>
          <p:cNvSpPr/>
          <p:nvPr/>
        </p:nvSpPr>
        <p:spPr>
          <a:xfrm>
            <a:off x="3054096" y="3611880"/>
            <a:ext cx="82296" cy="36576"/>
          </a:xfrm>
          <a:prstGeom prst="rect">
            <a:avLst/>
          </a:prstGeom>
          <a:solidFill>
            <a:srgbClr val="0891B2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136392" y="2944368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36392" y="3035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3172968" y="3355848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vector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720" dirty="0"/>
          </a:p>
        </p:txBody>
      </p:sp>
      <p:sp>
        <p:nvSpPr>
          <p:cNvPr id="49" name="Shape 46"/>
          <p:cNvSpPr/>
          <p:nvPr/>
        </p:nvSpPr>
        <p:spPr>
          <a:xfrm>
            <a:off x="4160520" y="3611880"/>
            <a:ext cx="82296" cy="36576"/>
          </a:xfrm>
          <a:prstGeom prst="rect">
            <a:avLst/>
          </a:prstGeom>
          <a:solidFill>
            <a:srgbClr val="0891B2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242816" y="2944368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242816" y="3035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279392" y="3355848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Search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720" dirty="0"/>
          </a:p>
        </p:txBody>
      </p:sp>
      <p:sp>
        <p:nvSpPr>
          <p:cNvPr id="53" name="Shape 50"/>
          <p:cNvSpPr/>
          <p:nvPr/>
        </p:nvSpPr>
        <p:spPr>
          <a:xfrm>
            <a:off x="5266944" y="3611880"/>
            <a:ext cx="82296" cy="36576"/>
          </a:xfrm>
          <a:prstGeom prst="rect">
            <a:avLst/>
          </a:prstGeom>
          <a:solidFill>
            <a:srgbClr val="0891B2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349240" y="2944368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49240" y="3035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385816" y="3355848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query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runtime</a:t>
            </a:r>
            <a:endParaRPr lang="en-US" sz="720" dirty="0"/>
          </a:p>
        </p:txBody>
      </p:sp>
      <p:sp>
        <p:nvSpPr>
          <p:cNvPr id="57" name="Shape 54"/>
          <p:cNvSpPr/>
          <p:nvPr/>
        </p:nvSpPr>
        <p:spPr>
          <a:xfrm>
            <a:off x="6373368" y="3611880"/>
            <a:ext cx="201168" cy="36576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565392" y="3575304"/>
            <a:ext cx="64008" cy="10972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574536" y="2944368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31750">
            <a:solidFill>
              <a:srgbClr val="0891B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620256" y="2944368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Search  ·  Vector embeddings per agent  ·  Semantic retrieval at query time  ·  Per-agent isolated knowledge index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Ecosystem Mapping</a:t>
            </a:r>
            <a:endParaRPr lang="en-US" sz="1700" dirty="0"/>
          </a:p>
        </p:txBody>
      </p:sp>
      <p:pic>
        <p:nvPicPr>
          <p:cNvPr id="6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7315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open-source prototype to enterprise-grade Azure deployment — a clear transition path for each architectural component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201168" y="1024128"/>
            <a:ext cx="1847088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10241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249424" y="1024128"/>
            <a:ext cx="2999232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40864" y="1024128"/>
            <a:ext cx="2889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(DEMO)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449824" y="1024128"/>
            <a:ext cx="345643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41264" y="1024128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ENTERPRISE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01168" y="1371600"/>
            <a:ext cx="1847088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1371600"/>
            <a:ext cx="168249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249424" y="1371600"/>
            <a:ext cx="2999232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40864" y="1371600"/>
            <a:ext cx="2834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Python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(agent wiring &amp; shared state)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5449824" y="1371600"/>
            <a:ext cx="3456432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49824" y="1435608"/>
            <a:ext cx="45720" cy="27889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50408" y="1371600"/>
            <a:ext cx="3310128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(pro-code agent orchestration &amp; governance)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201168" y="1778508"/>
            <a:ext cx="1847088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1778508"/>
            <a:ext cx="168249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2249424" y="1778508"/>
            <a:ext cx="2999232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40864" y="1778508"/>
            <a:ext cx="2834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(developer dashboard)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449824" y="1778508"/>
            <a:ext cx="3456432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49824" y="1842516"/>
            <a:ext cx="45720" cy="27889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50408" y="1778508"/>
            <a:ext cx="3310128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Studio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(low-code conversational front door)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201168" y="2185416"/>
            <a:ext cx="1847088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" y="2185416"/>
            <a:ext cx="168249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Serving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2249424" y="2185416"/>
            <a:ext cx="2999232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40864" y="2185416"/>
            <a:ext cx="2834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+ Kimi K2.6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(local &amp; OpenClaw gateway)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449824" y="2185416"/>
            <a:ext cx="3456432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49824" y="2249424"/>
            <a:ext cx="45720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50408" y="2185416"/>
            <a:ext cx="3310128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Model Catalog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(GPT-4o, Phi-4, open-weight models via API)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201168" y="2592324"/>
            <a:ext cx="1847088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2608" y="2592324"/>
            <a:ext cx="168249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2249424" y="2592324"/>
            <a:ext cx="2999232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340864" y="2592324"/>
            <a:ext cx="2834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LangGraph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state object</a:t>
            </a:r>
            <a:endParaRPr lang="en-US" sz="780" dirty="0"/>
          </a:p>
        </p:txBody>
      </p:sp>
      <p:sp>
        <p:nvSpPr>
          <p:cNvPr id="39" name="Shape 36"/>
          <p:cNvSpPr/>
          <p:nvPr/>
        </p:nvSpPr>
        <p:spPr>
          <a:xfrm>
            <a:off x="5449824" y="2592324"/>
            <a:ext cx="3456432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49824" y="2656332"/>
            <a:ext cx="45720" cy="27889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50408" y="2592324"/>
            <a:ext cx="3310128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Fabric / Azure SQL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Foundry pipeline state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201168" y="2999232"/>
            <a:ext cx="1847088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92608" y="2999232"/>
            <a:ext cx="168249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2249424" y="2999232"/>
            <a:ext cx="2999232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340864" y="2999232"/>
            <a:ext cx="2834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rules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 agent prompts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5449824" y="2999232"/>
            <a:ext cx="3456432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49824" y="3063240"/>
            <a:ext cx="45720" cy="27889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550408" y="2999232"/>
            <a:ext cx="3310128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Search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(per-agent isolated vector indexes)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201168" y="3406140"/>
            <a:ext cx="1847088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92608" y="3406140"/>
            <a:ext cx="168249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Cache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2249424" y="3406140"/>
            <a:ext cx="2999232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340864" y="3406140"/>
            <a:ext cx="2834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file cache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 Mode toggle)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5449824" y="3406140"/>
            <a:ext cx="3456432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49824" y="3470148"/>
            <a:ext cx="45720" cy="278892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50408" y="3406140"/>
            <a:ext cx="3310128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Cache for Redis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(sub-10ms cached retrieval)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201168" y="3813048"/>
            <a:ext cx="1847088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92608" y="3813048"/>
            <a:ext cx="168249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20" dirty="0"/>
          </a:p>
        </p:txBody>
      </p:sp>
      <p:sp>
        <p:nvSpPr>
          <p:cNvPr id="58" name="Shape 55"/>
          <p:cNvSpPr/>
          <p:nvPr/>
        </p:nvSpPr>
        <p:spPr>
          <a:xfrm>
            <a:off x="2249424" y="3813048"/>
            <a:ext cx="2999232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340864" y="3813048"/>
            <a:ext cx="2834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only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auth layer)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5449824" y="3813048"/>
            <a:ext cx="3456432" cy="4069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49824" y="3877056"/>
            <a:ext cx="45720" cy="2788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550408" y="3813048"/>
            <a:ext cx="3310128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 + Purview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(RBAC, audit trail, data lineage)</a:t>
            </a:r>
            <a:endParaRPr lang="en-US" sz="780" dirty="0"/>
          </a:p>
        </p:txBody>
      </p:sp>
      <p:sp>
        <p:nvSpPr>
          <p:cNvPr id="63" name="Shape 60"/>
          <p:cNvSpPr/>
          <p:nvPr/>
        </p:nvSpPr>
        <p:spPr>
          <a:xfrm>
            <a:off x="201168" y="4219956"/>
            <a:ext cx="1847088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92608" y="4219956"/>
            <a:ext cx="168249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820" dirty="0"/>
          </a:p>
        </p:txBody>
      </p:sp>
      <p:sp>
        <p:nvSpPr>
          <p:cNvPr id="65" name="Shape 62"/>
          <p:cNvSpPr/>
          <p:nvPr/>
        </p:nvSpPr>
        <p:spPr>
          <a:xfrm>
            <a:off x="2249424" y="4219956"/>
            <a:ext cx="2999232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340864" y="4219956"/>
            <a:ext cx="2834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Timeline UI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(Streamlit in-app view)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5449824" y="4219956"/>
            <a:ext cx="3456432" cy="4069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449824" y="4283964"/>
            <a:ext cx="45720" cy="27889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550408" y="4219956"/>
            <a:ext cx="3310128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+ App Insights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(distributed tracing, dashboards)</a:t>
            </a:r>
            <a:endParaRPr lang="en-US" sz="780" dirty="0"/>
          </a:p>
        </p:txBody>
      </p:sp>
      <p:sp>
        <p:nvSpPr>
          <p:cNvPr id="70" name="Shape 6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maps 1:1 to an Azure equivalent  ·  Prototype validates the architecture  ·  Production path is clear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Reporting Automation Agent</a:t>
            </a:r>
            <a:endParaRPr lang="en-US" sz="1700" dirty="0"/>
          </a:p>
        </p:txBody>
      </p:sp>
      <p:pic>
        <p:nvPicPr>
          <p:cNvPr id="6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7315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personalized client reports at scale — what took a 3-day manual effort now takes 20 minutes across thousands of portfolios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2880" y="10058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051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92608" y="1271016"/>
            <a:ext cx="1609344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307592"/>
            <a:ext cx="16459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Client portfolio data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Benchmark &amp; NAV feeds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Reporting period trigger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RM customization flags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2011680" y="1444752"/>
            <a:ext cx="256032" cy="36576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58568" y="1408176"/>
            <a:ext cx="64008" cy="109728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67712" y="9144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91440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Reporting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82512" y="1444752"/>
            <a:ext cx="256032" cy="36576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1408176"/>
            <a:ext cx="64008" cy="109728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38544" y="1005840"/>
            <a:ext cx="2304288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38544" y="1051560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748272" y="1271016"/>
            <a:ext cx="2084832" cy="16459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9984" y="1307592"/>
            <a:ext cx="21214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Personalized PDF report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RM review queue entry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Auto-distribution to client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Audit log entry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4302252" y="2011680"/>
            <a:ext cx="45720" cy="256032"/>
          </a:xfrm>
          <a:prstGeom prst="rect">
            <a:avLst/>
          </a:prstGeom>
          <a:solidFill>
            <a:srgbClr val="B45309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" y="2048256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ARCHITECTURE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82880" y="2267712"/>
            <a:ext cx="4343400" cy="2395728"/>
          </a:xfrm>
          <a:prstGeom prst="roundRect">
            <a:avLst>
              <a:gd name="adj" fmla="val 305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233172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 SHARED  MEMORY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47472" y="2578608"/>
            <a:ext cx="4014216" cy="16459"/>
          </a:xfrm>
          <a:prstGeom prst="rect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2633472"/>
            <a:ext cx="406908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 &amp; communication prefs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holdings &amp; weightings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&amp; SIP history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benchmarks (YTD / 1Y / 3Y)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summary &amp; realized gains / losses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17720" y="2267712"/>
            <a:ext cx="4343400" cy="2395728"/>
          </a:xfrm>
          <a:prstGeom prst="roundRect">
            <a:avLst>
              <a:gd name="adj" fmla="val 3053"/>
            </a:avLst>
          </a:prstGeom>
          <a:solidFill>
            <a:srgbClr val="FEFC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233172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 MEMORY  ·  RAG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782312" y="2578608"/>
            <a:ext cx="4014216" cy="16459"/>
          </a:xfrm>
          <a:prstGeom prst="rect">
            <a:avLst/>
          </a:prstGeom>
          <a:solidFill>
            <a:srgbClr val="B45309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2633472"/>
            <a:ext cx="406908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narrative templates (HNI / retail)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disclosure language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commentary library (sector-wise)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 &amp; star rating data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index definitions (Nifty / Sensex)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RAG-powered narrative generation  ·  Template-aware personalization per client segment  ·  Zero manual report writing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Reconciliation Agent</a:t>
            </a:r>
            <a:endParaRPr lang="en-US" sz="1700" dirty="0"/>
          </a:p>
        </p:txBody>
      </p:sp>
      <p:pic>
        <p:nvPicPr>
          <p:cNvPr id="6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7315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executed trades against custodian records end-of-day — auto-resolves common breaks, surfaces only genuine exceptions to ops team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28600" y="969264"/>
            <a:ext cx="86868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6926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context:  Among the earliest AI use cases in capital markets — rule-based matching engines date to the 1990s. Modern LLM agents now handle unstructured exceptions and narrative break descriptions that rigid rules never could.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182880" y="135331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1399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92608" y="1618488"/>
            <a:ext cx="1609344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655064"/>
            <a:ext cx="16459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EOD trade blotter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Custodian settlement records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Exchange confirmations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ISIN master reference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2011680" y="1792224"/>
            <a:ext cx="256032" cy="36576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58568" y="1755648"/>
            <a:ext cx="64008" cy="10972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67712" y="1261872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77440" y="126187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Reconciliation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82512" y="1792224"/>
            <a:ext cx="256032" cy="36576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29400" y="1755648"/>
            <a:ext cx="64008" cy="10972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38544" y="1353312"/>
            <a:ext cx="2304288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8544" y="1399032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748272" y="1618488"/>
            <a:ext cx="2084832" cy="16459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9984" y="1655064"/>
            <a:ext cx="21214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Matched trade register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Break report with severity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Auto-resolved items log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Exception queue for ops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4302252" y="2359152"/>
            <a:ext cx="45720" cy="256032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23957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ARCHITECTURE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182880" y="2615184"/>
            <a:ext cx="4343400" cy="2048256"/>
          </a:xfrm>
          <a:prstGeom prst="roundRect">
            <a:avLst>
              <a:gd name="adj" fmla="val 357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267919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 SHARED  MEMORY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47472" y="2926080"/>
            <a:ext cx="4014216" cy="16459"/>
          </a:xfrm>
          <a:prstGeom prst="rect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2980944"/>
            <a:ext cx="406908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trade blotter (all executed orders)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Custodian &amp; depository records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account positions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status &amp; funding state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break resolution log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617720" y="2615184"/>
            <a:ext cx="4343400" cy="2048256"/>
          </a:xfrm>
          <a:prstGeom prst="roundRect">
            <a:avLst>
              <a:gd name="adj" fmla="val 3571"/>
            </a:avLst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09160" y="267919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 MEMORY  ·  RAG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82312" y="2926080"/>
            <a:ext cx="4014216" cy="16459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2980944"/>
            <a:ext cx="406908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rule playbooks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settlement cycle guidelines (T+1)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/ BSE / CDSL exchange norms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resolution decision tree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exception pattern library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reconciliation from hours to minutes  ·  Only genuine exceptions reach ops team  ·  Full audit trail maintained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Support Assistant</a:t>
            </a:r>
            <a:endParaRPr lang="en-US" sz="1700" dirty="0"/>
          </a:p>
        </p:txBody>
      </p:sp>
      <p:pic>
        <p:nvPicPr>
          <p:cNvPr id="6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7315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inbound client calls autonomously — portfolio queries, SIP changes, redemptions — escalates to human RM only on genuine exceptions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2880" y="10058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051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92608" y="1271016"/>
            <a:ext cx="1609344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307592"/>
            <a:ext cx="16459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Inbound voice call (telephony)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Speech-to-text transcript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Client ID &amp; auth token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Intent classification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2011680" y="1444752"/>
            <a:ext cx="256032" cy="3657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58568" y="1408176"/>
            <a:ext cx="64008" cy="10972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67712" y="9144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91440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Support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82512" y="1444752"/>
            <a:ext cx="256032" cy="3657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1408176"/>
            <a:ext cx="64008" cy="10972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38544" y="1005840"/>
            <a:ext cx="2304288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38544" y="1051560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748272" y="1271016"/>
            <a:ext cx="2084832" cy="16459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9984" y="1307592"/>
            <a:ext cx="21214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Voice response (TTS)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Action executed (SIP / redemption)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Escalation to live RM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CRM ticket created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4302252" y="2011680"/>
            <a:ext cx="45720" cy="256032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" y="2048256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ARCHITECTURE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82880" y="2267712"/>
            <a:ext cx="4343400" cy="2395728"/>
          </a:xfrm>
          <a:prstGeom prst="roundRect">
            <a:avLst>
              <a:gd name="adj" fmla="val 305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233172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 SHARED  MEMORY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47472" y="2578608"/>
            <a:ext cx="4014216" cy="16459"/>
          </a:xfrm>
          <a:prstGeom prst="rect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2633472"/>
            <a:ext cx="406908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account &amp; KYC data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holdings &amp; live NAV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service tickets &amp; history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schedules &amp; redemption status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&amp; statement history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17720" y="2267712"/>
            <a:ext cx="4343400" cy="2395728"/>
          </a:xfrm>
          <a:prstGeom prst="roundRect">
            <a:avLst>
              <a:gd name="adj" fmla="val 3053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233172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 MEMORY  ·  RAG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782312" y="2578608"/>
            <a:ext cx="4014216" cy="16459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2633472"/>
            <a:ext cx="406908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FAQ &amp; knowledge base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/ bond / FD catalog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call scripts &amp; disclosures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decision tree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investor grievance guidelines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80%+ of Tier-1 calls autonomously  ·  Sub-2s response latency  ·  Full compliance call transcript logging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Agent</a:t>
            </a:r>
            <a:endParaRPr lang="en-US" sz="1700" dirty="0"/>
          </a:p>
        </p:txBody>
      </p:sp>
      <p:pic>
        <p:nvPicPr>
          <p:cNvPr id="6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7315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all portfolios daily for SEBI / AMFI violations, insider-watch breaches, and concentration limit failures — zero manual compliance monitoring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2880" y="10058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051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92608" y="1271016"/>
            <a:ext cx="1609344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307592"/>
            <a:ext cx="16459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Live portfolio positions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Market data &amp; NAV feed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Regulatory update alerts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Insider watch-list changes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2011680" y="1444752"/>
            <a:ext cx="256032" cy="36576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58568" y="1408176"/>
            <a:ext cx="64008" cy="109728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67712" y="9144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91440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82512" y="1444752"/>
            <a:ext cx="256032" cy="36576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1408176"/>
            <a:ext cx="64008" cy="109728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38544" y="1005840"/>
            <a:ext cx="2304288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38544" y="1051560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748272" y="1271016"/>
            <a:ext cx="2084832" cy="16459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9984" y="1307592"/>
            <a:ext cx="21214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Daily compliance dashboard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Violation alerts to officer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Regulatory filing drafts
</a:t>
            </a:r>
            <a:pPr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Audit trail (Azure Purview)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4302252" y="2011680"/>
            <a:ext cx="45720" cy="256032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" y="2048256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ARCHITECTURE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82880" y="2267712"/>
            <a:ext cx="4343400" cy="2395728"/>
          </a:xfrm>
          <a:prstGeom prst="roundRect">
            <a:avLst>
              <a:gd name="adj" fmla="val 305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233172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 SHARED  MEMORY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47472" y="2578608"/>
            <a:ext cx="4014216" cy="16459"/>
          </a:xfrm>
          <a:prstGeom prst="rect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2633472"/>
            <a:ext cx="406908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client portfolio positions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&amp; NAV data (all funds)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classification (HNI / retail / institutional)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trade data (3-year lookback)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category &amp; mandate restriction flags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17720" y="2267712"/>
            <a:ext cx="4343400" cy="2395728"/>
          </a:xfrm>
          <a:prstGeom prst="roundRect">
            <a:avLst>
              <a:gd name="adj" fmla="val 3053"/>
            </a:avLst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233172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 MEMORY  ·  RAG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782312" y="2578608"/>
            <a:ext cx="4014216" cy="16459"/>
          </a:xfrm>
          <a:prstGeom prst="rect">
            <a:avLst/>
          </a:prstGeom>
          <a:solidFill>
            <a:srgbClr val="DC262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2633472"/>
            <a:ext cx="406908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regulations &amp; latest circulars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guidelines &amp; concentration limits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trading watch-list (NSE / SEBI)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PMLA &amp; KYC compliance rules
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Mandate-specific restriction tables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automated scans replace weekly manual reviews  ·  Violation alerts within minutes of breach  ·  Full regulatory audit trail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Agentic Finance Use Cases</a:t>
            </a:r>
            <a:endParaRPr lang="en-US" sz="1700" dirty="0"/>
          </a:p>
        </p:txBody>
      </p:sp>
      <p:pic>
        <p:nvPicPr>
          <p:cNvPr id="6" name="Image 0" descr="/home/ved/laracorp/wealth-demo/ex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7315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use case below follows the same memory pattern — centralized client data + distributed domain knowledge — no additional architecture needed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1188" y="100584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188" y="1005840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2563EB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" y="104241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2628" y="12984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Client Onboarding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2628" y="1682496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KYC collection, PAN/CIBIL verification, and risk profiling. Auto-populates CRM. RM handoff only at final sign-off — reduces onboarding from days to minutes.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3223260" y="100584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23260" y="1005840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4700" y="104241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14700" y="12984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Portfolio Q&amp;A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14700" y="1682496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my LTCG exposure if I sell today?" — Agent fetches live holdings, applies IT Act rules from RAG memory, and answers in seconds. No advisor needed for routine queries.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6085332" y="100584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5332" y="1005840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059669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6772" y="104241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76772" y="12984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Tax-Loss Harvesting Agent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76772" y="1682496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scan of all portfolios for unrealized losses that can offset LTCG. Flags 80C/80CCD shortfalls before fiscal year-end. Generates harvesting plan with projected savings.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1792224" y="2688336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92224" y="2688336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0891B2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83664" y="272491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883664" y="29809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Rebalancing Agent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883664" y="336499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allocation drift daily. When equity/debt/gold drifts beyond threshold, proposes a rebalancing trade set with full tax impact — sent for one-click RM approval.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4654296" y="2688336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54296" y="2688336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B45309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45736" y="272491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45736" y="29809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Agent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45736" y="336499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ingests fund factsheets, SEBI circulars, DRHP filings, and annual reports. Chunks, embeds, and indexes into per-fund isolated RAG vector stores — powering all other agents.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48051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in finance — from front desk to back office — every workflow benefits from centralized + distributed memory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Exaze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Wealth Management — Memory Architecture</dc:title>
  <dc:subject>PptxGenJS Presentation</dc:subject>
  <dc:creator>Exaze AI</dc:creator>
  <cp:lastModifiedBy>Exaze AI</cp:lastModifiedBy>
  <cp:revision>1</cp:revision>
  <dcterms:created xsi:type="dcterms:W3CDTF">2026-05-17T17:05:37Z</dcterms:created>
  <dcterms:modified xsi:type="dcterms:W3CDTF">2026-05-17T17:05:37Z</dcterms:modified>
</cp:coreProperties>
</file>